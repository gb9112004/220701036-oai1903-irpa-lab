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76" r:id="rId7"/>
    <p:sldId id="261" r:id="rId8"/>
    <p:sldId id="262" r:id="rId9"/>
    <p:sldId id="263" r:id="rId10"/>
    <p:sldId id="264" r:id="rId11"/>
    <p:sldId id="265" r:id="rId12"/>
    <p:sldId id="277" r:id="rId13"/>
    <p:sldId id="278" r:id="rId14"/>
    <p:sldId id="266" r:id="rId15"/>
    <p:sldId id="279" r:id="rId16"/>
    <p:sldId id="267" r:id="rId17"/>
    <p:sldId id="280" r:id="rId18"/>
    <p:sldId id="268" r:id="rId19"/>
    <p:sldId id="269" r:id="rId20"/>
    <p:sldId id="270" r:id="rId21"/>
    <p:sldId id="271" r:id="rId22"/>
    <p:sldId id="272" r:id="rId23"/>
    <p:sldId id="273" r:id="rId24"/>
    <p:sldId id="274" r:id="rId25"/>
    <p:sldId id="275" r:id="rId26"/>
  </p:sldIdLst>
  <p:sldSz cx="9144000" cy="6858000" type="screen4x3"/>
  <p:notesSz cx="6858000" cy="9144000"/>
  <p:embeddedFontLst>
    <p:embeddedFont>
      <p:font typeface="Open Sans ExtraBold" panose="020B0906030804020204" pitchFamily="34"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1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ieeexplore.ieee.org/document/10466096"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ieeexplore.ieee.org/document/9592155" TargetMode="External"/><Relationship Id="rId4" Type="http://schemas.openxmlformats.org/officeDocument/2006/relationships/hyperlink" Target="https://ieeexplore.ieee.org/document/9574461"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ieeexplore.ieee.org/document/10466096"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ieeexplore.ieee.org/document/9592155"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8980"/>
            <a:chOff x="-14748" y="986564"/>
            <a:chExt cx="9158748" cy="5148980"/>
          </a:xfrm>
        </p:grpSpPr>
        <p:sp>
          <p:nvSpPr>
            <p:cNvPr id="90" name="Google Shape;90;p13"/>
            <p:cNvSpPr txBox="1"/>
            <p:nvPr/>
          </p:nvSpPr>
          <p:spPr>
            <a:xfrm>
              <a:off x="177781" y="4812105"/>
              <a:ext cx="4322209"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Calibri"/>
                  <a:ea typeface="Calibri"/>
                  <a:cs typeface="Calibri"/>
                  <a:sym typeface="Calibri"/>
                </a:rPr>
                <a:t>Your Register No.</a:t>
              </a:r>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Name</a:t>
              </a:r>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Guide Name</a:t>
              </a:r>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Designation and Department</a:t>
              </a:r>
              <a:endParaRPr sz="2000" b="1">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a:solidFill>
                        <a:schemeClr val="lt1"/>
                      </a:solidFill>
                      <a:latin typeface="Calibri"/>
                      <a:ea typeface="Calibri"/>
                      <a:cs typeface="Calibri"/>
                      <a:sym typeface="Calibri"/>
                    </a:rPr>
                    <a:t>Introduction to </a:t>
                  </a:r>
                  <a:endParaRPr/>
                </a:p>
                <a:p>
                  <a:pPr marL="0" marR="0" lvl="0" indent="0" algn="ctr" rtl="0">
                    <a:spcBef>
                      <a:spcPts val="0"/>
                    </a:spcBef>
                    <a:spcAft>
                      <a:spcPts val="0"/>
                    </a:spcAft>
                    <a:buNone/>
                  </a:pPr>
                  <a:r>
                    <a:rPr lang="en-US" sz="2000" b="1">
                      <a:solidFill>
                        <a:schemeClr val="lt1"/>
                      </a:solidFill>
                      <a:latin typeface="Calibri"/>
                      <a:ea typeface="Calibri"/>
                      <a:cs typeface="Calibri"/>
                      <a:sym typeface="Calibri"/>
                    </a:rPr>
                    <a:t>Robotic Process Automation </a:t>
                  </a:r>
                  <a:endParaRPr sz="2000" b="1">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2" name="Text Placeholder 1">
            <a:extLst>
              <a:ext uri="{FF2B5EF4-FFF2-40B4-BE49-F238E27FC236}">
                <a16:creationId xmlns:a16="http://schemas.microsoft.com/office/drawing/2014/main" id="{D6DB5048-F9F7-4798-DC6A-FDF480D4E3B1}"/>
              </a:ext>
            </a:extLst>
          </p:cNvPr>
          <p:cNvSpPr>
            <a:spLocks noGrp="1" noChangeArrowheads="1"/>
          </p:cNvSpPr>
          <p:nvPr>
            <p:ph type="body" idx="1"/>
          </p:nvPr>
        </p:nvSpPr>
        <p:spPr bwMode="auto">
          <a:xfrm>
            <a:off x="190500" y="1187693"/>
            <a:ext cx="876300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"Entertainment Rating and Recommendation Bot" is a RPA solution developed using UiPath that enhances the movie selection experience. This bot provides users with comprehensive movie details, including ratings, reviews, release dates, budgets, and story summaries. It offers personalized movie recommendations, sends curated suggestions via email, and facilitates ticket booking for chosen movies. The system streamlines entertainment planning with convenience and efficiency, creating a seamless user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endParaRPr lang="en-US" dirty="0"/>
          </a:p>
          <a:p>
            <a:pPr marL="76200" indent="0">
              <a:buNone/>
            </a:pPr>
            <a:r>
              <a:rPr lang="en-US" dirty="0">
                <a:latin typeface="Calibri" panose="020F0502020204030204" pitchFamily="34" charset="0"/>
                <a:ea typeface="Calibri" panose="020F0502020204030204" pitchFamily="34" charset="0"/>
                <a:cs typeface="Calibri" panose="020F0502020204030204" pitchFamily="34" charset="0"/>
              </a:rPr>
              <a:t>The proposed solution addresses the challenge of finding accurate and comprehensive movie information from multiple sources, which can be time-consuming and inefficient. It simplifies the decision-making process by providing a centralized platform to access detailed movie insights, personalized recommendations, and ticket booking options. This automation saves time, enhances user convenience, and ensures an enjoyable entertainment planning experience.</a:t>
            </a:r>
          </a:p>
          <a:p>
            <a:pPr marL="0" lvl="0" indent="0" algn="l" rtl="0">
              <a:lnSpc>
                <a:spcPct val="114000"/>
              </a:lnSpc>
              <a:spcBef>
                <a:spcPts val="0"/>
              </a:spcBef>
              <a:spcAft>
                <a:spcPts val="0"/>
              </a:spcAft>
              <a:buClr>
                <a:schemeClr val="dk1"/>
              </a:buClr>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3" name="Text Placeholder 2">
            <a:extLst>
              <a:ext uri="{FF2B5EF4-FFF2-40B4-BE49-F238E27FC236}">
                <a16:creationId xmlns:a16="http://schemas.microsoft.com/office/drawing/2014/main" id="{6997AF2E-EB1B-3FE6-0E78-4B53C8B06995}"/>
              </a:ext>
            </a:extLst>
          </p:cNvPr>
          <p:cNvSpPr>
            <a:spLocks noGrp="1" noChangeArrowheads="1"/>
          </p:cNvSpPr>
          <p:nvPr>
            <p:ph type="body" idx="1"/>
          </p:nvPr>
        </p:nvSpPr>
        <p:spPr bwMode="auto">
          <a:xfrm>
            <a:off x="190500" y="919993"/>
            <a:ext cx="89535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Streamlines the movie selection and booking process for greater convenience.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TextBox 4">
            <a:extLst>
              <a:ext uri="{FF2B5EF4-FFF2-40B4-BE49-F238E27FC236}">
                <a16:creationId xmlns:a16="http://schemas.microsoft.com/office/drawing/2014/main" id="{4CFCD513-6CAF-12DF-671C-7CEF99A5F4D3}"/>
              </a:ext>
            </a:extLst>
          </p:cNvPr>
          <p:cNvSpPr txBox="1"/>
          <p:nvPr/>
        </p:nvSpPr>
        <p:spPr>
          <a:xfrm>
            <a:off x="210165" y="2211635"/>
            <a:ext cx="8452055" cy="830997"/>
          </a:xfrm>
          <a:prstGeom prst="rect">
            <a:avLst/>
          </a:prstGeom>
          <a:noFill/>
        </p:spPr>
        <p:txBody>
          <a:bodyPr wrap="square">
            <a:spAutoFit/>
          </a:bodyPr>
          <a:lstStyle/>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Eliminates the need for manual searches by consolidating ratings, reviews, and other details in one place.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378512D-E79E-F0E0-36F9-A256D77C5C25}"/>
              </a:ext>
            </a:extLst>
          </p:cNvPr>
          <p:cNvSpPr txBox="1"/>
          <p:nvPr/>
        </p:nvSpPr>
        <p:spPr>
          <a:xfrm>
            <a:off x="151171" y="3121223"/>
            <a:ext cx="8570042" cy="830997"/>
          </a:xfrm>
          <a:prstGeom prst="rect">
            <a:avLst/>
          </a:prstGeom>
          <a:noFill/>
        </p:spPr>
        <p:txBody>
          <a:bodyPr wrap="square">
            <a:spAutoFit/>
          </a:bodyPr>
          <a:lstStyle/>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Provides personalized recommendations to help users discover movies that match their preferences</a:t>
            </a:r>
            <a:r>
              <a:rPr lang="en-US" dirty="0"/>
              <a:t>.</a:t>
            </a:r>
            <a:endParaRPr lang="en-IN" dirty="0"/>
          </a:p>
        </p:txBody>
      </p:sp>
      <p:sp>
        <p:nvSpPr>
          <p:cNvPr id="9" name="TextBox 8">
            <a:extLst>
              <a:ext uri="{FF2B5EF4-FFF2-40B4-BE49-F238E27FC236}">
                <a16:creationId xmlns:a16="http://schemas.microsoft.com/office/drawing/2014/main" id="{52868E19-2BE4-D61E-88B2-D61A09704649}"/>
              </a:ext>
            </a:extLst>
          </p:cNvPr>
          <p:cNvSpPr txBox="1"/>
          <p:nvPr/>
        </p:nvSpPr>
        <p:spPr>
          <a:xfrm>
            <a:off x="210165" y="4026497"/>
            <a:ext cx="8570042" cy="830997"/>
          </a:xfrm>
          <a:prstGeom prst="rect">
            <a:avLst/>
          </a:prstGeom>
          <a:noFill/>
        </p:spPr>
        <p:txBody>
          <a:bodyPr wrap="square">
            <a:spAutoFit/>
          </a:bodyPr>
          <a:lstStyle/>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Sends email updates to keep users informed about recommended movies</a:t>
            </a:r>
            <a:r>
              <a:rPr lang="en-US" dirty="0"/>
              <a: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Literature Survey</a:t>
            </a:r>
            <a:endParaRPr dirty="0">
              <a:latin typeface="Calibri"/>
              <a:ea typeface="Calibri"/>
              <a:cs typeface="Calibri"/>
              <a:sym typeface="Calibri"/>
            </a:endParaRPr>
          </a:p>
        </p:txBody>
      </p:sp>
      <p:sp>
        <p:nvSpPr>
          <p:cNvPr id="127" name="Google Shape;127;p17"/>
          <p:cNvSpPr txBox="1">
            <a:spLocks noGrp="1"/>
          </p:cNvSpPr>
          <p:nvPr>
            <p:ph type="body" idx="1"/>
          </p:nvPr>
        </p:nvSpPr>
        <p:spPr>
          <a:xfrm>
            <a:off x="363795" y="1256071"/>
            <a:ext cx="8514734" cy="1143000"/>
          </a:xfrm>
          <a:prstGeom prst="rect">
            <a:avLst/>
          </a:prstGeom>
          <a:noFill/>
          <a:ln>
            <a:noFill/>
          </a:ln>
        </p:spPr>
        <p:txBody>
          <a:bodyPr spcFirstLastPara="1" wrap="square" lIns="91425" tIns="45700" rIns="91425" bIns="45700" anchor="t" anchorCtr="0">
            <a:normAutofit fontScale="40000" lnSpcReduction="20000"/>
          </a:bodyPr>
          <a:lstStyle/>
          <a:p>
            <a:pPr marL="342900" lvl="0" indent="-342900" algn="l" rtl="0">
              <a:lnSpc>
                <a:spcPct val="114000"/>
              </a:lnSpc>
              <a:spcBef>
                <a:spcPts val="480"/>
              </a:spcBef>
              <a:spcAft>
                <a:spcPts val="0"/>
              </a:spcAft>
              <a:buClr>
                <a:schemeClr val="dk1"/>
              </a:buClr>
              <a:buSzPts val="2400"/>
              <a:buFont typeface="Noto Sans Symbols"/>
              <a:buChar char="▪"/>
            </a:pPr>
            <a:r>
              <a:rPr lang="en-US" sz="6000" b="0" dirty="0"/>
              <a:t>Automation in Entertainment: A Comprehensive Approach to Movie Recommendation and Ticket Booking Using RPA</a:t>
            </a:r>
          </a:p>
          <a:p>
            <a:pPr marL="342900" lvl="0" indent="-342900" algn="l" rtl="0">
              <a:lnSpc>
                <a:spcPct val="114000"/>
              </a:lnSpc>
              <a:spcBef>
                <a:spcPts val="480"/>
              </a:spcBef>
              <a:spcAft>
                <a:spcPts val="0"/>
              </a:spcAft>
              <a:buClr>
                <a:schemeClr val="dk1"/>
              </a:buClr>
              <a:buSzPts val="2400"/>
              <a:buFont typeface="Noto Sans Symbols"/>
              <a:buChar char="▪"/>
            </a:pPr>
            <a:endParaRPr lang="en-US" b="0" dirty="0"/>
          </a:p>
          <a:p>
            <a:pPr marL="0" lvl="0" indent="0" algn="l" rtl="0">
              <a:lnSpc>
                <a:spcPct val="114000"/>
              </a:lnSpc>
              <a:spcBef>
                <a:spcPts val="480"/>
              </a:spcBef>
              <a:spcAft>
                <a:spcPts val="0"/>
              </a:spcAft>
              <a:buClr>
                <a:schemeClr val="dk1"/>
              </a:buClr>
              <a:buSzPts val="2400"/>
              <a:buNone/>
            </a:pPr>
            <a:endParaRPr lang="en-US" dirty="0"/>
          </a:p>
        </p:txBody>
      </p:sp>
      <p:sp>
        <p:nvSpPr>
          <p:cNvPr id="3" name="Text Placeholder 2">
            <a:extLst>
              <a:ext uri="{FF2B5EF4-FFF2-40B4-BE49-F238E27FC236}">
                <a16:creationId xmlns:a16="http://schemas.microsoft.com/office/drawing/2014/main" id="{17AFD7A6-67BB-3BE8-4C8F-E8C57DB5311E}"/>
              </a:ext>
            </a:extLst>
          </p:cNvPr>
          <p:cNvSpPr>
            <a:spLocks noGrp="1"/>
          </p:cNvSpPr>
          <p:nvPr>
            <p:ph type="body" idx="2"/>
          </p:nvPr>
        </p:nvSpPr>
        <p:spPr/>
        <p:txBody>
          <a:bodyPr/>
          <a:lstStyle/>
          <a:p>
            <a:r>
              <a:rPr lang="en-IN" dirty="0"/>
              <a:t>ADVANTAGES</a:t>
            </a:r>
          </a:p>
          <a:p>
            <a:endParaRPr lang="en-IN" dirty="0"/>
          </a:p>
          <a:p>
            <a:r>
              <a:rPr lang="en-US" sz="2000" dirty="0"/>
              <a:t>Automates movie details retrieval, saving user time and effort</a:t>
            </a:r>
          </a:p>
          <a:p>
            <a:endParaRPr lang="en-IN" sz="2000" dirty="0"/>
          </a:p>
          <a:p>
            <a:r>
              <a:rPr lang="en-IN" sz="2000" dirty="0"/>
              <a:t>Provides tailored recommendations, enhancing user satisfaction.</a:t>
            </a:r>
          </a:p>
        </p:txBody>
      </p:sp>
      <p:sp>
        <p:nvSpPr>
          <p:cNvPr id="5" name="Text Placeholder 4">
            <a:extLst>
              <a:ext uri="{FF2B5EF4-FFF2-40B4-BE49-F238E27FC236}">
                <a16:creationId xmlns:a16="http://schemas.microsoft.com/office/drawing/2014/main" id="{506EDA56-ECD6-00BB-4801-ADB55C641307}"/>
              </a:ext>
            </a:extLst>
          </p:cNvPr>
          <p:cNvSpPr>
            <a:spLocks noGrp="1"/>
          </p:cNvSpPr>
          <p:nvPr>
            <p:ph type="body" idx="4"/>
          </p:nvPr>
        </p:nvSpPr>
        <p:spPr/>
        <p:txBody>
          <a:bodyPr/>
          <a:lstStyle/>
          <a:p>
            <a:r>
              <a:rPr lang="en-IN" dirty="0"/>
              <a:t>DISADVANTAGES</a:t>
            </a:r>
          </a:p>
          <a:p>
            <a:endParaRPr lang="en-IN" dirty="0"/>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Relies on accurate external data, risking inconsistencies.</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IN" sz="2000" dirty="0"/>
              <a:t>Raises data privacy concerns due to sensitive user information.</a:t>
            </a:r>
            <a:endParaRPr lang="en-US" sz="2000"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31298C-BF57-007C-4C2F-38DED5BBA599}"/>
              </a:ext>
            </a:extLst>
          </p:cNvPr>
          <p:cNvSpPr txBox="1"/>
          <p:nvPr/>
        </p:nvSpPr>
        <p:spPr>
          <a:xfrm>
            <a:off x="265471" y="294969"/>
            <a:ext cx="6533535" cy="461665"/>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Literature Survey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58FCC01-09D2-D278-F4AF-A434B4D90D69}"/>
              </a:ext>
            </a:extLst>
          </p:cNvPr>
          <p:cNvSpPr txBox="1"/>
          <p:nvPr/>
        </p:nvSpPr>
        <p:spPr>
          <a:xfrm>
            <a:off x="265470" y="1042219"/>
            <a:ext cx="8249265" cy="908005"/>
          </a:xfrm>
          <a:prstGeom prst="rect">
            <a:avLst/>
          </a:prstGeom>
          <a:noFill/>
        </p:spPr>
        <p:txBody>
          <a:bodyPr wrap="square">
            <a:spAutoFit/>
          </a:bodyPr>
          <a:lstStyle/>
          <a:p>
            <a:pPr marL="342900" lvl="0" indent="-342900" algn="l" rtl="0">
              <a:lnSpc>
                <a:spcPct val="114000"/>
              </a:lnSpc>
              <a:spcBef>
                <a:spcPts val="480"/>
              </a:spcBef>
              <a:spcAft>
                <a:spcPts val="0"/>
              </a:spcAft>
              <a:buClr>
                <a:schemeClr val="dk1"/>
              </a:buClr>
              <a:buSzPts val="2400"/>
              <a:buFont typeface="Noto Sans Symbols"/>
              <a:buChar char="▪"/>
            </a:pPr>
            <a:r>
              <a:rPr lang="en-US" sz="2400" dirty="0"/>
              <a:t>Enhancing User Experience in Movie Selection and Booking through UiPath-Based Intelligent Bots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2502C46-8BBE-ABC2-EF66-97429D5342BC}"/>
              </a:ext>
            </a:extLst>
          </p:cNvPr>
          <p:cNvSpPr txBox="1"/>
          <p:nvPr/>
        </p:nvSpPr>
        <p:spPr>
          <a:xfrm>
            <a:off x="462116" y="2797521"/>
            <a:ext cx="3942736" cy="2431435"/>
          </a:xfrm>
          <a:prstGeom prst="rect">
            <a:avLst/>
          </a:prstGeom>
          <a:noFill/>
        </p:spPr>
        <p:txBody>
          <a:bodyPr wrap="square">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ADVANTAGES</a:t>
            </a:r>
          </a:p>
          <a:p>
            <a:pPr marL="342900" indent="-342900">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High accuracy due to deep reinforcement learning.</a:t>
            </a: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Real-time adaptability to changing user preferences</a:t>
            </a:r>
            <a:r>
              <a:rPr lang="en-US" sz="1400" dirty="0"/>
              <a:t>.</a:t>
            </a:r>
          </a:p>
        </p:txBody>
      </p:sp>
      <p:sp>
        <p:nvSpPr>
          <p:cNvPr id="9" name="TextBox 8">
            <a:extLst>
              <a:ext uri="{FF2B5EF4-FFF2-40B4-BE49-F238E27FC236}">
                <a16:creationId xmlns:a16="http://schemas.microsoft.com/office/drawing/2014/main" id="{01B77E0F-E323-4C69-71D7-DA3211B05801}"/>
              </a:ext>
            </a:extLst>
          </p:cNvPr>
          <p:cNvSpPr txBox="1"/>
          <p:nvPr/>
        </p:nvSpPr>
        <p:spPr>
          <a:xfrm>
            <a:off x="4208206" y="2797521"/>
            <a:ext cx="4473678" cy="2677656"/>
          </a:xfrm>
          <a:prstGeom prst="rect">
            <a:avLst/>
          </a:prstGeom>
          <a:noFill/>
        </p:spPr>
        <p:txBody>
          <a:bodyPr wrap="square">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DISADVANTAGES</a:t>
            </a:r>
          </a:p>
          <a:p>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Data dependency: The model requires extensive, high-quality datasets</a:t>
            </a: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High reliance on computational resources for real-time processing</a:t>
            </a:r>
          </a:p>
        </p:txBody>
      </p:sp>
    </p:spTree>
    <p:extLst>
      <p:ext uri="{BB962C8B-B14F-4D97-AF65-F5344CB8AC3E}">
        <p14:creationId xmlns:p14="http://schemas.microsoft.com/office/powerpoint/2010/main" val="1790648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2" name="Text Placeholder 1">
            <a:extLst>
              <a:ext uri="{FF2B5EF4-FFF2-40B4-BE49-F238E27FC236}">
                <a16:creationId xmlns:a16="http://schemas.microsoft.com/office/drawing/2014/main" id="{0C083F18-FA25-1F24-CDEA-22A432AC8E77}"/>
              </a:ext>
            </a:extLst>
          </p:cNvPr>
          <p:cNvSpPr>
            <a:spLocks noGrp="1" noChangeArrowheads="1"/>
          </p:cNvSpPr>
          <p:nvPr>
            <p:ph type="body" idx="1"/>
          </p:nvPr>
        </p:nvSpPr>
        <p:spPr bwMode="auto">
          <a:xfrm>
            <a:off x="190500" y="1764774"/>
            <a:ext cx="885517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main objective of the proposed solution is to streamline the movie selection process by automating the retrieval of movie details, including ratings, reviews, release dates, and budgets. By providing users with all relevant information in one place, it reduces the time and effort spent searching across multiple platforms.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Additionally, the solution offers personalized movie recommendations tailored to individual preferences, improving user satisfaction. It further enhances convenience by integrating ticket booking and email notifications, creating a seamless experience for users from selection to booking.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a:spLocks noGrp="1"/>
          </p:cNvSpPr>
          <p:nvPr>
            <p:ph type="body" idx="1"/>
          </p:nvPr>
        </p:nvSpPr>
        <p:spPr>
          <a:xfrm flipV="1">
            <a:off x="3417786" y="6449962"/>
            <a:ext cx="5293596" cy="76458"/>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4000"/>
              </a:lnSpc>
              <a:spcBef>
                <a:spcPts val="0"/>
              </a:spcBef>
              <a:spcAft>
                <a:spcPts val="0"/>
              </a:spcAft>
              <a:buClr>
                <a:schemeClr val="dk1"/>
              </a:buClr>
              <a:buSzPts val="2400"/>
              <a:buNone/>
            </a:pPr>
            <a:endParaRPr dirty="0"/>
          </a:p>
        </p:txBody>
      </p:sp>
      <p:pic>
        <p:nvPicPr>
          <p:cNvPr id="5122" name="Picture 2">
            <a:extLst>
              <a:ext uri="{FF2B5EF4-FFF2-40B4-BE49-F238E27FC236}">
                <a16:creationId xmlns:a16="http://schemas.microsoft.com/office/drawing/2014/main" id="{EC755A34-5CB0-19B6-ECBD-BC4EF2E76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323" y="1019176"/>
            <a:ext cx="7654106" cy="5179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System Requirements</a:t>
            </a:r>
            <a:endParaRPr dirty="0">
              <a:latin typeface="Calibri"/>
              <a:ea typeface="Calibri"/>
              <a:cs typeface="Calibri"/>
              <a:sym typeface="Calibri"/>
            </a:endParaRPr>
          </a:p>
        </p:txBody>
      </p:sp>
      <p:sp>
        <p:nvSpPr>
          <p:cNvPr id="148" name="Google Shape;148;p20"/>
          <p:cNvSpPr txBox="1">
            <a:spLocks noGrp="1"/>
          </p:cNvSpPr>
          <p:nvPr>
            <p:ph type="body" idx="1"/>
          </p:nvPr>
        </p:nvSpPr>
        <p:spPr>
          <a:xfrm>
            <a:off x="190500" y="990599"/>
            <a:ext cx="8763000" cy="4918587"/>
          </a:xfrm>
          <a:prstGeom prst="rect">
            <a:avLst/>
          </a:prstGeom>
          <a:noFill/>
          <a:ln>
            <a:noFill/>
          </a:ln>
        </p:spPr>
        <p:txBody>
          <a:bodyPr spcFirstLastPara="1" wrap="square" lIns="91425" tIns="45700" rIns="91425" bIns="45700" anchor="t" anchorCtr="0">
            <a:normAutofit fontScale="47500" lnSpcReduction="20000"/>
          </a:bodyPr>
          <a:lstStyle/>
          <a:p>
            <a:r>
              <a:rPr lang="en-US" sz="4400" b="1" dirty="0"/>
              <a:t>HARDWARE REQUIREMENTS                                            </a:t>
            </a:r>
          </a:p>
          <a:p>
            <a:endParaRPr lang="en-US" sz="3200" b="1" dirty="0"/>
          </a:p>
          <a:p>
            <a:r>
              <a:rPr lang="en-IN" sz="3200" b="1" dirty="0"/>
              <a:t>UiPath Studio</a:t>
            </a:r>
            <a:r>
              <a:rPr lang="en-IN" sz="3200" dirty="0"/>
              <a:t>: Latest version</a:t>
            </a:r>
          </a:p>
          <a:p>
            <a:r>
              <a:rPr lang="en-US" sz="3200" b="1" dirty="0"/>
              <a:t>Operating System</a:t>
            </a:r>
            <a:r>
              <a:rPr lang="en-US" sz="3200" dirty="0"/>
              <a:t>: Windows 10 (64-bit) or later</a:t>
            </a:r>
          </a:p>
          <a:p>
            <a:r>
              <a:rPr lang="en-US" sz="3200" b="1" dirty="0"/>
              <a:t>Microsoft Excel</a:t>
            </a:r>
            <a:r>
              <a:rPr lang="en-US" sz="3200" dirty="0"/>
              <a:t>: 2016 or later</a:t>
            </a:r>
          </a:p>
          <a:p>
            <a:r>
              <a:rPr lang="en-US" sz="3200" b="1" dirty="0"/>
              <a:t>Email Service</a:t>
            </a:r>
            <a:r>
              <a:rPr lang="en-US" sz="3200" dirty="0"/>
              <a:t>: SMTP (Gmail, Outlook)</a:t>
            </a:r>
          </a:p>
          <a:p>
            <a:endParaRPr lang="en-US" sz="2400" b="1" dirty="0"/>
          </a:p>
          <a:p>
            <a:endParaRPr lang="en-US" sz="2400" b="1" dirty="0"/>
          </a:p>
          <a:p>
            <a:pPr marL="0" indent="0">
              <a:buNone/>
            </a:pPr>
            <a:endParaRPr lang="en-US" sz="2400" b="1" dirty="0"/>
          </a:p>
          <a:p>
            <a:r>
              <a:rPr lang="en-US" sz="4400" b="1" dirty="0"/>
              <a:t>SOFTWARE REQUIREMENTS</a:t>
            </a:r>
          </a:p>
          <a:p>
            <a:pPr marL="0" indent="0">
              <a:buNone/>
            </a:pPr>
            <a:endParaRPr lang="en-US" sz="2400" b="1" dirty="0"/>
          </a:p>
          <a:p>
            <a:r>
              <a:rPr lang="en-US" sz="3300" b="1" dirty="0"/>
              <a:t>Web Browser</a:t>
            </a:r>
            <a:r>
              <a:rPr lang="en-US" sz="3300" dirty="0"/>
              <a:t>: Chrome, Firefox, Edge</a:t>
            </a:r>
          </a:p>
          <a:p>
            <a:r>
              <a:rPr lang="en-US" sz="3300" b="1" dirty="0"/>
              <a:t>Processor</a:t>
            </a:r>
            <a:r>
              <a:rPr lang="en-US" sz="3300" dirty="0"/>
              <a:t>: Intel i5 or higher</a:t>
            </a:r>
            <a:endParaRPr lang="en-US" sz="3300" b="1" dirty="0"/>
          </a:p>
          <a:p>
            <a:r>
              <a:rPr lang="en-US" sz="3300" b="1" dirty="0"/>
              <a:t>Storage</a:t>
            </a:r>
            <a:r>
              <a:rPr lang="en-US" sz="3300" dirty="0"/>
              <a:t>: 10 GB free space</a:t>
            </a:r>
          </a:p>
          <a:p>
            <a:r>
              <a:rPr lang="en-IN" sz="3300" b="1" dirty="0"/>
              <a:t>Network</a:t>
            </a:r>
            <a:r>
              <a:rPr lang="en-IN" sz="3300" dirty="0"/>
              <a:t>: Stable internet</a:t>
            </a:r>
          </a:p>
          <a:p>
            <a:r>
              <a:rPr lang="en-IN" sz="3300" b="1" dirty="0"/>
              <a:t>Display</a:t>
            </a:r>
            <a:r>
              <a:rPr lang="en-IN" sz="3300" dirty="0"/>
              <a:t>: 1366x768 resolution</a:t>
            </a:r>
            <a:endParaRPr lang="en-US" sz="3300" dirty="0"/>
          </a:p>
          <a:p>
            <a:pPr marL="342900" lvl="0" indent="-342900" algn="l" rtl="0">
              <a:lnSpc>
                <a:spcPct val="114000"/>
              </a:lnSpc>
              <a:spcBef>
                <a:spcPts val="480"/>
              </a:spcBef>
              <a:spcAft>
                <a:spcPts val="0"/>
              </a:spcAft>
              <a:buClr>
                <a:schemeClr val="dk1"/>
              </a:buClr>
              <a:buSzPts val="2400"/>
              <a:buFont typeface="Noto Sans Symbols"/>
              <a:buChar char="▪"/>
            </a:pPr>
            <a:endParaRPr lang="en-US" dirty="0"/>
          </a:p>
          <a:p>
            <a:pPr marL="342900" lvl="0" indent="-342900" algn="l" rtl="0">
              <a:lnSpc>
                <a:spcPct val="114000"/>
              </a:lnSpc>
              <a:spcBef>
                <a:spcPts val="480"/>
              </a:spcBef>
              <a:spcAft>
                <a:spcPts val="0"/>
              </a:spcAft>
              <a:buClr>
                <a:schemeClr val="dk1"/>
              </a:buClr>
              <a:buSzPts val="2400"/>
              <a:buFont typeface="Noto Sans Symbols"/>
              <a:buChar char="▪"/>
            </a:pPr>
            <a:endParaRPr dirty="0"/>
          </a:p>
        </p:txBody>
      </p:sp>
      <p:sp>
        <p:nvSpPr>
          <p:cNvPr id="5" name="Rectangle 4">
            <a:extLst>
              <a:ext uri="{FF2B5EF4-FFF2-40B4-BE49-F238E27FC236}">
                <a16:creationId xmlns:a16="http://schemas.microsoft.com/office/drawing/2014/main" id="{9E6A72FB-30E1-7F09-5CC2-1B56DE096428}"/>
              </a:ext>
            </a:extLst>
          </p:cNvPr>
          <p:cNvSpPr>
            <a:spLocks noChangeArrowheads="1"/>
          </p:cNvSpPr>
          <p:nvPr/>
        </p:nvSpPr>
        <p:spPr bwMode="auto">
          <a:xfrm rot="10800000" flipV="1">
            <a:off x="353959" y="2125885"/>
            <a:ext cx="82296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190500" y="106363"/>
            <a:ext cx="987806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Functional Description</a:t>
            </a:r>
            <a:endParaRPr dirty="0">
              <a:latin typeface="Calibri"/>
              <a:ea typeface="Calibri"/>
              <a:cs typeface="Calibri"/>
              <a:sym typeface="Calibri"/>
            </a:endParaRPr>
          </a:p>
        </p:txBody>
      </p:sp>
      <p:sp>
        <p:nvSpPr>
          <p:cNvPr id="155" name="Google Shape;155;p21"/>
          <p:cNvSpPr txBox="1">
            <a:spLocks noGrp="1"/>
          </p:cNvSpPr>
          <p:nvPr>
            <p:ph type="body" idx="1"/>
          </p:nvPr>
        </p:nvSpPr>
        <p:spPr>
          <a:xfrm>
            <a:off x="190499" y="990600"/>
            <a:ext cx="8570043" cy="5492554"/>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1:INPUT HANDLING AND INITIALIZATION:</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The system allows users to select a movie by name or ID, retrieving corresponding movie details from an external source. It automatically fetches key information such as ratings, cast, cost, story description, and release date from a movie database (e.g., IMDb or TMDB). Additionally, the system generates a dynamic email containing the fetched movie details and stores it for future reference.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IN" dirty="0">
                <a:latin typeface="Calibri"/>
                <a:ea typeface="Calibri"/>
                <a:cs typeface="Calibri"/>
                <a:sym typeface="Calibri"/>
              </a:rPr>
              <a:t>ACTIVITY DIAGRAM</a:t>
            </a:r>
            <a:endParaRPr dirty="0">
              <a:latin typeface="Calibri"/>
              <a:ea typeface="Calibri"/>
              <a:cs typeface="Calibri"/>
              <a:sym typeface="Calibri"/>
            </a:endParaRPr>
          </a:p>
        </p:txBody>
      </p:sp>
      <p:sp>
        <p:nvSpPr>
          <p:cNvPr id="162" name="Google Shape;162;p22"/>
          <p:cNvSpPr txBox="1">
            <a:spLocks noGrp="1"/>
          </p:cNvSpPr>
          <p:nvPr>
            <p:ph type="body" idx="1"/>
          </p:nvPr>
        </p:nvSpPr>
        <p:spPr>
          <a:xfrm flipV="1">
            <a:off x="2782528" y="6324599"/>
            <a:ext cx="6465939" cy="46703"/>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4000"/>
              </a:lnSpc>
              <a:spcBef>
                <a:spcPts val="0"/>
              </a:spcBef>
              <a:spcAft>
                <a:spcPts val="0"/>
              </a:spcAft>
              <a:buClr>
                <a:schemeClr val="dk1"/>
              </a:buClr>
              <a:buSzPts val="2400"/>
              <a:buNone/>
            </a:pPr>
            <a:endParaRPr dirty="0"/>
          </a:p>
        </p:txBody>
      </p:sp>
      <p:pic>
        <p:nvPicPr>
          <p:cNvPr id="6146" name="Picture 2">
            <a:extLst>
              <a:ext uri="{FF2B5EF4-FFF2-40B4-BE49-F238E27FC236}">
                <a16:creationId xmlns:a16="http://schemas.microsoft.com/office/drawing/2014/main" id="{A03BC897-AE0D-0E85-4751-65F5064A2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76" y="1369756"/>
            <a:ext cx="6677025" cy="4610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191D9E-AD8E-5F28-127D-72B49D2CDC8C}"/>
              </a:ext>
            </a:extLst>
          </p:cNvPr>
          <p:cNvSpPr txBox="1"/>
          <p:nvPr/>
        </p:nvSpPr>
        <p:spPr>
          <a:xfrm>
            <a:off x="88490" y="196645"/>
            <a:ext cx="8927691" cy="3046988"/>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MODULE 2: CONTENT ANALYSIS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The system fetches detailed movie content by iterating through the movie's API or data source, gathering information such as ratings, actors, short description, cost, and release date. Additionally, it uses a recommendation algorithm to suggest movies based on the user's preferences or previous selections, enhancing the user's movie selection experience.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7170" name="Picture 2">
            <a:extLst>
              <a:ext uri="{FF2B5EF4-FFF2-40B4-BE49-F238E27FC236}">
                <a16:creationId xmlns:a16="http://schemas.microsoft.com/office/drawing/2014/main" id="{3EE5F17F-9133-255F-1406-66BAE81E4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28" y="3243633"/>
            <a:ext cx="8042787" cy="3417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139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228F16-FADD-2C77-6129-47445B918614}"/>
              </a:ext>
            </a:extLst>
          </p:cNvPr>
          <p:cNvSpPr txBox="1"/>
          <p:nvPr/>
        </p:nvSpPr>
        <p:spPr>
          <a:xfrm>
            <a:off x="78658" y="68827"/>
            <a:ext cx="8947355" cy="461665"/>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ENTITY RELATIONSHIP DIAGRAM</a:t>
            </a:r>
          </a:p>
        </p:txBody>
      </p:sp>
      <p:pic>
        <p:nvPicPr>
          <p:cNvPr id="8194" name="Picture 2">
            <a:extLst>
              <a:ext uri="{FF2B5EF4-FFF2-40B4-BE49-F238E27FC236}">
                <a16:creationId xmlns:a16="http://schemas.microsoft.com/office/drawing/2014/main" id="{3913DBAA-3975-2F9C-54AD-CD21EF334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271" y="1671638"/>
            <a:ext cx="7924799" cy="4109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518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r>
              <a:rPr lang="en-US" b="1" dirty="0"/>
              <a:t>MAIN PROCESS</a:t>
            </a:r>
          </a:p>
          <a:p>
            <a:pPr marL="76200" indent="0">
              <a:buNone/>
            </a:pPr>
            <a:r>
              <a:rPr lang="en-US" dirty="0"/>
              <a:t>The Entertainment Rating and Recommendation Bot automates the movie selection process by accepting user input to search for a movie by name or ID. It retrieves detailed movie data, such as ratings, reviews, release date, and budget, from external databases like IMDb or TMDB. The system then uses a recommendation algorithm to suggest similar movies based on user preferences. When a movie is selected, the bot generates and sends an email with movie details to the user and offers an option to book tickets. The entire process runs automatically, providing users with recommendations, reviews, and booking options without manual intervention.</a:t>
            </a:r>
          </a:p>
          <a:p>
            <a:pPr marL="342900" lvl="0" indent="-342900" algn="l" rtl="0">
              <a:lnSpc>
                <a:spcPct val="114000"/>
              </a:lnSpc>
              <a:spcBef>
                <a:spcPts val="0"/>
              </a:spcBef>
              <a:spcAft>
                <a:spcPts val="0"/>
              </a:spcAft>
              <a:buClr>
                <a:schemeClr val="dk1"/>
              </a:buClr>
              <a:buSzPts val="2400"/>
              <a:buFont typeface="Noto Sans Symbols"/>
              <a:buChar char="▪"/>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B3391C-18DD-E3FF-900B-8183B66F54B7}"/>
              </a:ext>
            </a:extLst>
          </p:cNvPr>
          <p:cNvSpPr txBox="1"/>
          <p:nvPr/>
        </p:nvSpPr>
        <p:spPr>
          <a:xfrm rot="10800000" flipV="1">
            <a:off x="-1" y="342105"/>
            <a:ext cx="8967019" cy="830997"/>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SUB PROCESS</a:t>
            </a: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06860E29-85C1-8BB9-E552-FDD4BCEDCAC0}"/>
              </a:ext>
            </a:extLst>
          </p:cNvPr>
          <p:cNvSpPr>
            <a:spLocks noChangeArrowheads="1"/>
          </p:cNvSpPr>
          <p:nvPr/>
        </p:nvSpPr>
        <p:spPr bwMode="auto">
          <a:xfrm rot="10800000" flipV="1">
            <a:off x="0" y="1158954"/>
            <a:ext cx="914399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Movie Selection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Accepts user input to search for a movie by name or ID and validates the input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Movie Data Fetching</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Fetches detailed information about the selected movie, such as ratings, reviews, release date, budget, and a short description from an external movie database (IMDb, TMDB).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Movie Recommendation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Uses a recommendation algorithm to suggest movies based on the user’s preferences or previous selections, ensuring relevant recommendations are provided.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Email Generation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Dynamically generates an email containing the selected movie’s details and sends it to the user for future reference.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Ticket Booking</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Assists the user in booking tickets for the selected movie, providing a seamless and automated reservation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Recheck and Updates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Periodically checks the status of recommendations, updates the movie database for new releases, and sends updated recommendations as necessary.</a:t>
            </a:r>
          </a:p>
        </p:txBody>
      </p:sp>
    </p:spTree>
    <p:extLst>
      <p:ext uri="{BB962C8B-B14F-4D97-AF65-F5344CB8AC3E}">
        <p14:creationId xmlns:p14="http://schemas.microsoft.com/office/powerpoint/2010/main" val="2250453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r>
              <a:rPr lang="en-IN" dirty="0"/>
              <a:t>MODULE 1:</a:t>
            </a:r>
            <a:r>
              <a:rPr lang="en-US" dirty="0"/>
              <a:t> </a:t>
            </a:r>
          </a:p>
          <a:p>
            <a:pPr marL="342900" lvl="0" indent="-190500" algn="l" rtl="0">
              <a:lnSpc>
                <a:spcPct val="114000"/>
              </a:lnSpc>
              <a:spcBef>
                <a:spcPts val="480"/>
              </a:spcBef>
              <a:spcAft>
                <a:spcPts val="0"/>
              </a:spcAft>
              <a:buClr>
                <a:schemeClr val="dk1"/>
              </a:buClr>
              <a:buSzPts val="2400"/>
              <a:buFont typeface="Noto Sans Symbols"/>
              <a:buNone/>
            </a:pPr>
            <a:r>
              <a:rPr lang="en-US" dirty="0"/>
              <a:t>The system allows users to select a movie by name or ID, retrieving corresponding movie details from an external source</a:t>
            </a:r>
            <a:endParaRPr lang="en-IN" dirty="0"/>
          </a:p>
          <a:p>
            <a:pPr marL="342900" lvl="0" indent="-190500" algn="l" rtl="0">
              <a:lnSpc>
                <a:spcPct val="114000"/>
              </a:lnSpc>
              <a:spcBef>
                <a:spcPts val="480"/>
              </a:spcBef>
              <a:spcAft>
                <a:spcPts val="0"/>
              </a:spcAft>
              <a:buClr>
                <a:schemeClr val="dk1"/>
              </a:buClr>
              <a:buSzPts val="2400"/>
              <a:buFont typeface="Noto Sans Symbols"/>
              <a:buNone/>
            </a:pPr>
            <a:endParaRPr lang="en-IN"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3" name="Picture 2">
            <a:extLst>
              <a:ext uri="{FF2B5EF4-FFF2-40B4-BE49-F238E27FC236}">
                <a16:creationId xmlns:a16="http://schemas.microsoft.com/office/drawing/2014/main" id="{3C456B45-75F2-BEBF-BEB8-7252600C3959}"/>
              </a:ext>
            </a:extLst>
          </p:cNvPr>
          <p:cNvPicPr>
            <a:picLocks noChangeAspect="1"/>
          </p:cNvPicPr>
          <p:nvPr/>
        </p:nvPicPr>
        <p:blipFill>
          <a:blip r:embed="rId3"/>
          <a:stretch>
            <a:fillRect/>
          </a:stretch>
        </p:blipFill>
        <p:spPr>
          <a:xfrm>
            <a:off x="1081547" y="2862157"/>
            <a:ext cx="6715433" cy="288027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12B6C1-4AE4-B21D-D44B-5D9E5A3B5AB9}"/>
              </a:ext>
            </a:extLst>
          </p:cNvPr>
          <p:cNvSpPr txBox="1"/>
          <p:nvPr/>
        </p:nvSpPr>
        <p:spPr>
          <a:xfrm>
            <a:off x="108155" y="216310"/>
            <a:ext cx="8908026" cy="2523768"/>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MODULE 2:</a:t>
            </a:r>
          </a:p>
          <a:p>
            <a:r>
              <a:rPr lang="en-US" sz="2400" dirty="0">
                <a:latin typeface="Calibri" panose="020F0502020204030204" pitchFamily="34" charset="0"/>
                <a:ea typeface="Calibri" panose="020F0502020204030204" pitchFamily="34" charset="0"/>
                <a:cs typeface="Calibri" panose="020F0502020204030204" pitchFamily="34" charset="0"/>
              </a:rPr>
              <a:t>The system fetches detailed movie content by iterating through the movie's API or data source, gathering information such as ratings, actors, short description, cost, and release date</a:t>
            </a:r>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pic>
        <p:nvPicPr>
          <p:cNvPr id="4" name="Picture 3">
            <a:extLst>
              <a:ext uri="{FF2B5EF4-FFF2-40B4-BE49-F238E27FC236}">
                <a16:creationId xmlns:a16="http://schemas.microsoft.com/office/drawing/2014/main" id="{88032248-9951-8C50-184E-BE4EDF38AC4F}"/>
              </a:ext>
            </a:extLst>
          </p:cNvPr>
          <p:cNvPicPr>
            <a:picLocks noChangeAspect="1"/>
          </p:cNvPicPr>
          <p:nvPr/>
        </p:nvPicPr>
        <p:blipFill>
          <a:blip r:embed="rId2"/>
          <a:stretch>
            <a:fillRect/>
          </a:stretch>
        </p:blipFill>
        <p:spPr>
          <a:xfrm>
            <a:off x="723566" y="1883582"/>
            <a:ext cx="7722343" cy="4428728"/>
          </a:xfrm>
          <a:prstGeom prst="rect">
            <a:avLst/>
          </a:prstGeom>
        </p:spPr>
      </p:pic>
    </p:spTree>
    <p:extLst>
      <p:ext uri="{BB962C8B-B14F-4D97-AF65-F5344CB8AC3E}">
        <p14:creationId xmlns:p14="http://schemas.microsoft.com/office/powerpoint/2010/main" val="2819192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83" name="Google Shape;183;p2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r>
              <a:rPr lang="en-IN" dirty="0"/>
              <a:t>The bot will send the recommended movies via email to the registered mail account</a:t>
            </a:r>
            <a:endParaRPr dirty="0"/>
          </a:p>
        </p:txBody>
      </p:sp>
      <p:pic>
        <p:nvPicPr>
          <p:cNvPr id="3" name="Picture 2">
            <a:extLst>
              <a:ext uri="{FF2B5EF4-FFF2-40B4-BE49-F238E27FC236}">
                <a16:creationId xmlns:a16="http://schemas.microsoft.com/office/drawing/2014/main" id="{EF634654-3C0F-E1A1-B851-E0B5958188D9}"/>
              </a:ext>
            </a:extLst>
          </p:cNvPr>
          <p:cNvPicPr>
            <a:picLocks noChangeAspect="1"/>
          </p:cNvPicPr>
          <p:nvPr/>
        </p:nvPicPr>
        <p:blipFill>
          <a:blip r:embed="rId3"/>
          <a:stretch>
            <a:fillRect/>
          </a:stretch>
        </p:blipFill>
        <p:spPr>
          <a:xfrm>
            <a:off x="381000" y="2660526"/>
            <a:ext cx="8477865" cy="153694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0" name="Google Shape;190;p2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r>
              <a:rPr lang="en-US" dirty="0"/>
              <a:t>   The Entertainment Rating and Recommendation Bot offers a seamless and automated movie discovery experience by fetching detailed movie information, providing personalized recommendations, and assisting with ticket bookings. It enhances user convenience by continuously updating movie data and offering real-time recommendations, ensuring an efficient and engaging movie selection process.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Future Enhancement</a:t>
            </a:r>
            <a:endParaRPr dirty="0">
              <a:latin typeface="Calibri"/>
              <a:ea typeface="Calibri"/>
              <a:cs typeface="Calibri"/>
              <a:sym typeface="Calibri"/>
            </a:endParaRPr>
          </a:p>
        </p:txBody>
      </p:sp>
      <p:sp>
        <p:nvSpPr>
          <p:cNvPr id="197" name="Google Shape;197;p2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
        <p:nvSpPr>
          <p:cNvPr id="3" name="Rectangle 2">
            <a:extLst>
              <a:ext uri="{FF2B5EF4-FFF2-40B4-BE49-F238E27FC236}">
                <a16:creationId xmlns:a16="http://schemas.microsoft.com/office/drawing/2014/main" id="{0F9E1CC0-2677-AD2F-1CD3-84375C7F553C}"/>
              </a:ext>
            </a:extLst>
          </p:cNvPr>
          <p:cNvSpPr>
            <a:spLocks noChangeArrowheads="1"/>
          </p:cNvSpPr>
          <p:nvPr/>
        </p:nvSpPr>
        <p:spPr bwMode="auto">
          <a:xfrm rot="10800000" flipV="1">
            <a:off x="190499" y="2056692"/>
            <a:ext cx="895349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Real-time Ticket Availability</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Integrate real-time ticket availability from various theaters for seamless booking.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Social Sharing</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Enable users to share movie recommendations and reviews on social media platforms.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04" name="Google Shape;204;p2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r>
              <a:rPr lang="en-US" dirty="0"/>
              <a:t>"Content-Based Movie Recommendation System Using Machine Learning Algorithm"</a:t>
            </a:r>
            <a:r>
              <a:rPr lang="en-IN" dirty="0"/>
              <a:t> Authors: </a:t>
            </a:r>
            <a:r>
              <a:rPr lang="en-IN" dirty="0">
                <a:hlinkClick r:id="rId3"/>
              </a:rPr>
              <a:t>IEEE Xplore - Link</a:t>
            </a:r>
            <a:r>
              <a:rPr lang="en-IN" dirty="0"/>
              <a:t>​</a:t>
            </a:r>
          </a:p>
          <a:p>
            <a:pPr marL="342900" lvl="0" indent="-342900" algn="l" rtl="0">
              <a:lnSpc>
                <a:spcPct val="114000"/>
              </a:lnSpc>
              <a:spcBef>
                <a:spcPts val="480"/>
              </a:spcBef>
              <a:spcAft>
                <a:spcPts val="0"/>
              </a:spcAft>
              <a:buClr>
                <a:schemeClr val="dk1"/>
              </a:buClr>
              <a:buSzPts val="2400"/>
              <a:buFont typeface="Noto Sans Symbols"/>
              <a:buChar char="▪"/>
            </a:pPr>
            <a:endParaRPr lang="en-IN" dirty="0"/>
          </a:p>
          <a:p>
            <a:pPr marL="342900" lvl="0" indent="-342900" algn="l" rtl="0">
              <a:lnSpc>
                <a:spcPct val="114000"/>
              </a:lnSpc>
              <a:spcBef>
                <a:spcPts val="480"/>
              </a:spcBef>
              <a:spcAft>
                <a:spcPts val="0"/>
              </a:spcAft>
              <a:buClr>
                <a:schemeClr val="dk1"/>
              </a:buClr>
              <a:buSzPts val="2400"/>
              <a:buFont typeface="Noto Sans Symbols"/>
              <a:buChar char="▪"/>
            </a:pPr>
            <a:r>
              <a:rPr lang="en-US" dirty="0"/>
              <a:t>"Research and Implementation of Movie Recommendation System Based on Deep Learning"</a:t>
            </a:r>
            <a:r>
              <a:rPr lang="en-IN" dirty="0"/>
              <a:t> Authors: </a:t>
            </a:r>
            <a:r>
              <a:rPr lang="en-IN" dirty="0">
                <a:hlinkClick r:id="rId4"/>
              </a:rPr>
              <a:t>IEEE Xplore – Link</a:t>
            </a:r>
            <a:endParaRPr lang="en-IN" dirty="0"/>
          </a:p>
          <a:p>
            <a:pPr marL="342900" lvl="0" indent="-342900" algn="l" rtl="0">
              <a:lnSpc>
                <a:spcPct val="114000"/>
              </a:lnSpc>
              <a:spcBef>
                <a:spcPts val="480"/>
              </a:spcBef>
              <a:spcAft>
                <a:spcPts val="0"/>
              </a:spcAft>
              <a:buClr>
                <a:schemeClr val="dk1"/>
              </a:buClr>
              <a:buSzPts val="2400"/>
              <a:buFont typeface="Noto Sans Symbols"/>
              <a:buChar char="▪"/>
            </a:pPr>
            <a:endParaRPr lang="en-IN" dirty="0"/>
          </a:p>
          <a:p>
            <a:pPr marL="342900" lvl="0" indent="-342900" algn="l" rtl="0">
              <a:lnSpc>
                <a:spcPct val="114000"/>
              </a:lnSpc>
              <a:spcBef>
                <a:spcPts val="480"/>
              </a:spcBef>
              <a:spcAft>
                <a:spcPts val="0"/>
              </a:spcAft>
              <a:buClr>
                <a:schemeClr val="dk1"/>
              </a:buClr>
              <a:buSzPts val="2400"/>
              <a:buFont typeface="Noto Sans Symbols"/>
              <a:buChar char="▪"/>
            </a:pPr>
            <a:endParaRPr lang="en-IN" dirty="0"/>
          </a:p>
          <a:p>
            <a:pPr marL="342900" lvl="0" indent="-342900" algn="l" rtl="0">
              <a:lnSpc>
                <a:spcPct val="114000"/>
              </a:lnSpc>
              <a:spcBef>
                <a:spcPts val="480"/>
              </a:spcBef>
              <a:spcAft>
                <a:spcPts val="0"/>
              </a:spcAft>
              <a:buClr>
                <a:schemeClr val="dk1"/>
              </a:buClr>
              <a:buSzPts val="2400"/>
              <a:buFont typeface="Noto Sans Symbols"/>
              <a:buChar char="▪"/>
            </a:pPr>
            <a:r>
              <a:rPr lang="en-US" dirty="0"/>
              <a:t>"A Hybrid Movie Recommendation System Based on User Preferences and Collaborative Filtering"</a:t>
            </a:r>
            <a:r>
              <a:rPr lang="en-IN" dirty="0"/>
              <a:t> Authors: </a:t>
            </a:r>
            <a:r>
              <a:rPr lang="en-IN" dirty="0">
                <a:hlinkClick r:id="rId5"/>
              </a:rPr>
              <a:t>IEEE Xplore - Link</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1" name="Google Shape;211;p2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"Content-Based Movie Recommendation System Using Machine Learning Algorithm“</a:t>
            </a:r>
          </a:p>
          <a:p>
            <a:pPr marL="0" indent="0">
              <a:spcBef>
                <a:spcPts val="0"/>
              </a:spcBef>
              <a:buNone/>
            </a:pPr>
            <a:r>
              <a:rPr lang="en-IN" dirty="0">
                <a:hlinkClick r:id="rId3"/>
              </a:rPr>
              <a:t>     Read more on IEEE</a:t>
            </a:r>
            <a:endParaRPr lang="en-IN" dirty="0"/>
          </a:p>
          <a:p>
            <a:pPr marL="0" indent="0">
              <a:spcBef>
                <a:spcPts val="0"/>
              </a:spcBef>
              <a:buNone/>
            </a:pPr>
            <a:endParaRPr lang="en-IN" dirty="0"/>
          </a:p>
          <a:p>
            <a:pPr marL="0" indent="0">
              <a:spcBef>
                <a:spcPts val="0"/>
              </a:spcBef>
              <a:buNone/>
            </a:pPr>
            <a:r>
              <a:rPr lang="en-US" dirty="0"/>
              <a:t>"A Hybrid Movie Recommendation System Based on User Preferences and Collaborative Filtering" </a:t>
            </a:r>
          </a:p>
          <a:p>
            <a:pPr marL="0" indent="0">
              <a:spcBef>
                <a:spcPts val="0"/>
              </a:spcBef>
              <a:buNone/>
            </a:pPr>
            <a:r>
              <a:rPr lang="en-US" dirty="0">
                <a:hlinkClick r:id="rId4"/>
              </a:rPr>
              <a:t>Read more on IEEE</a:t>
            </a:r>
            <a:r>
              <a:rPr lang="en-US" dirty="0"/>
              <a:t>​</a:t>
            </a:r>
            <a:r>
              <a:rPr lang="en-US" dirty="0">
                <a:hlinkClick r:id="rId3"/>
              </a:rPr>
              <a:t>I</a:t>
            </a:r>
            <a:endParaRPr lang="en-US" dirty="0"/>
          </a:p>
          <a:p>
            <a:pPr marL="0" indent="0">
              <a:spcBef>
                <a:spcPts val="0"/>
              </a:spcBef>
              <a:buNone/>
            </a:pPr>
            <a:endParaRPr lang="en-IN" dirty="0"/>
          </a:p>
          <a:p>
            <a:pPr marL="0" indent="0">
              <a:spcBef>
                <a:spcPts val="0"/>
              </a:spcBef>
              <a:buNone/>
            </a:pPr>
            <a:r>
              <a:rPr lang="en-IN" dirty="0"/>
              <a:t>​</a:t>
            </a:r>
          </a:p>
          <a:p>
            <a:pPr marL="342900" lvl="0" indent="-342900" algn="l" rtl="0">
              <a:lnSpc>
                <a:spcPct val="114000"/>
              </a:lnSpc>
              <a:spcBef>
                <a:spcPts val="0"/>
              </a:spcBef>
              <a:spcAft>
                <a:spcPts val="0"/>
              </a:spcAft>
              <a:buClr>
                <a:schemeClr val="dk1"/>
              </a:buClr>
              <a:buSzPts val="2400"/>
              <a:buFont typeface="Noto Sans Symbols"/>
              <a:buChar char="▪"/>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p:nvPr/>
        </p:nvSpPr>
        <p:spPr>
          <a:xfrm>
            <a:off x="2532822" y="2321005"/>
            <a:ext cx="4078361"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p:nvPr/>
        </p:nvSpPr>
        <p:spPr>
          <a:xfrm>
            <a:off x="727460" y="2321005"/>
            <a:ext cx="7689093"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1207</Words>
  <Application>Microsoft Office PowerPoint</Application>
  <PresentationFormat>On-screen Show (4:3)</PresentationFormat>
  <Paragraphs>134</Paragraphs>
  <Slides>25</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Arial</vt:lpstr>
      <vt:lpstr>Open Sans ExtraBold</vt:lpstr>
      <vt:lpstr>Wingdings</vt:lpstr>
      <vt:lpstr>Noto Sans Symbols</vt:lpstr>
      <vt:lpstr>Office Theme</vt:lpstr>
      <vt:lpstr>PowerPoint Presentation</vt:lpstr>
      <vt:lpstr>Abstract</vt:lpstr>
      <vt:lpstr>Need for the Proposed System</vt:lpstr>
      <vt:lpstr>Advantages of the Proposed System</vt:lpstr>
      <vt:lpstr>Literature Survey</vt:lpstr>
      <vt:lpstr>PowerPoint Presentation</vt:lpstr>
      <vt:lpstr>Main Objective</vt:lpstr>
      <vt:lpstr>Architecture</vt:lpstr>
      <vt:lpstr>System Requirements</vt:lpstr>
      <vt:lpstr>Functional Description</vt:lpstr>
      <vt:lpstr>ACTIVITY DIAGRAM</vt:lpstr>
      <vt:lpstr>PowerPoint Presentation</vt:lpstr>
      <vt:lpstr>PowerPoint Presentation</vt:lpstr>
      <vt:lpstr>Process Design</vt:lpstr>
      <vt:lpstr>PowerPoint Presentation</vt:lpstr>
      <vt:lpstr>Implementation</vt:lpstr>
      <vt:lpstr>PowerPoint Presentation</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G.BALAJI GOPALAKRISHNAN</cp:lastModifiedBy>
  <cp:revision>2</cp:revision>
  <dcterms:modified xsi:type="dcterms:W3CDTF">2024-11-21T20:35:54Z</dcterms:modified>
</cp:coreProperties>
</file>